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4" r:id="rId8"/>
    <p:sldId id="275" r:id="rId9"/>
    <p:sldId id="262" r:id="rId10"/>
    <p:sldId id="283" r:id="rId11"/>
    <p:sldId id="263" r:id="rId12"/>
    <p:sldId id="264" r:id="rId13"/>
    <p:sldId id="265" r:id="rId14"/>
    <p:sldId id="266" r:id="rId15"/>
    <p:sldId id="267" r:id="rId16"/>
    <p:sldId id="268" r:id="rId17"/>
    <p:sldId id="276" r:id="rId18"/>
    <p:sldId id="277" r:id="rId19"/>
    <p:sldId id="278" r:id="rId20"/>
    <p:sldId id="279" r:id="rId21"/>
    <p:sldId id="280" r:id="rId22"/>
    <p:sldId id="281" r:id="rId23"/>
    <p:sldId id="282" r:id="rId24"/>
    <p:sldId id="269" r:id="rId25"/>
    <p:sldId id="270" r:id="rId26"/>
    <p:sldId id="27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8/10/2025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582615"/>
            <a:ext cx="9001462" cy="3842238"/>
          </a:xfrm>
        </p:spPr>
        <p:txBody>
          <a:bodyPr>
            <a:normAutofit/>
          </a:bodyPr>
          <a:lstStyle/>
          <a:p>
            <a:r>
              <a:rPr lang="en-US" dirty="0">
                <a:effectLst/>
              </a:rPr>
              <a:t>KES-SMART: KES STUDENT MONITORING APPLICATION WITH REAL-TIME QR AND SMS NOTIFICATIONS</a:t>
            </a:r>
            <a:endParaRPr lang="en-PH" dirty="0">
              <a:effectLst/>
            </a:endParaRPr>
          </a:p>
        </p:txBody>
      </p:sp>
    </p:spTree>
    <p:extLst>
      <p:ext uri="{BB962C8B-B14F-4D97-AF65-F5344CB8AC3E}">
        <p14:creationId xmlns:p14="http://schemas.microsoft.com/office/powerpoint/2010/main" val="35657663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210" y="978877"/>
            <a:ext cx="10353761" cy="1326321"/>
          </a:xfrm>
        </p:spPr>
        <p:txBody>
          <a:bodyPr/>
          <a:lstStyle/>
          <a:p>
            <a:pPr algn="l"/>
            <a:r>
              <a:rPr lang="en-US" dirty="0" smtClean="0"/>
              <a:t>Group members</a:t>
            </a:r>
            <a:endParaRPr lang="en-PH" dirty="0"/>
          </a:p>
        </p:txBody>
      </p:sp>
      <p:sp>
        <p:nvSpPr>
          <p:cNvPr id="7" name="Title 1"/>
          <p:cNvSpPr txBox="1">
            <a:spLocks/>
          </p:cNvSpPr>
          <p:nvPr/>
        </p:nvSpPr>
        <p:spPr>
          <a:xfrm>
            <a:off x="4547949" y="2927838"/>
            <a:ext cx="7057897" cy="2127739"/>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a:lstStyle>
          <a:p>
            <a:pPr marL="457200" indent="-457200" algn="just">
              <a:buFont typeface="Arial" panose="020B0604020202020204" pitchFamily="34" charset="0"/>
              <a:buChar char="•"/>
            </a:pPr>
            <a:r>
              <a:rPr lang="en-US" dirty="0" err="1" smtClean="0"/>
              <a:t>Krystel</a:t>
            </a:r>
            <a:r>
              <a:rPr lang="en-US" dirty="0" smtClean="0"/>
              <a:t> joy </a:t>
            </a:r>
            <a:r>
              <a:rPr lang="en-US" dirty="0" err="1" smtClean="0"/>
              <a:t>ligo</a:t>
            </a:r>
            <a:endParaRPr lang="en-US" dirty="0" smtClean="0"/>
          </a:p>
          <a:p>
            <a:pPr marL="457200" indent="-457200" algn="just">
              <a:buFont typeface="Arial" panose="020B0604020202020204" pitchFamily="34" charset="0"/>
              <a:buChar char="•"/>
            </a:pPr>
            <a:r>
              <a:rPr lang="en-US" dirty="0"/>
              <a:t>Althea </a:t>
            </a:r>
            <a:r>
              <a:rPr lang="en-US" dirty="0" err="1" smtClean="0"/>
              <a:t>swane</a:t>
            </a:r>
            <a:r>
              <a:rPr lang="en-US" dirty="0" smtClean="0"/>
              <a:t> DAANOY</a:t>
            </a:r>
          </a:p>
          <a:p>
            <a:pPr marL="457200" indent="-457200" algn="just">
              <a:buFont typeface="Arial" panose="020B0604020202020204" pitchFamily="34" charset="0"/>
              <a:buChar char="•"/>
            </a:pPr>
            <a:r>
              <a:rPr lang="en-US" dirty="0" err="1" smtClean="0"/>
              <a:t>Lovelyn</a:t>
            </a:r>
            <a:r>
              <a:rPr lang="en-US" dirty="0" smtClean="0"/>
              <a:t> grace </a:t>
            </a:r>
            <a:r>
              <a:rPr lang="en-US" dirty="0" err="1" smtClean="0"/>
              <a:t>londres</a:t>
            </a:r>
            <a:endParaRPr lang="en-US" dirty="0" smtClean="0"/>
          </a:p>
          <a:p>
            <a:pPr marL="457200" indent="-457200" algn="just">
              <a:buFont typeface="Arial" panose="020B0604020202020204" pitchFamily="34" charset="0"/>
              <a:buChar char="•"/>
            </a:pPr>
            <a:r>
              <a:rPr lang="en-US" dirty="0" smtClean="0"/>
              <a:t>Noel </a:t>
            </a:r>
            <a:r>
              <a:rPr lang="en-US" dirty="0" err="1" smtClean="0"/>
              <a:t>carian</a:t>
            </a:r>
            <a:r>
              <a:rPr lang="en-US" dirty="0" smtClean="0"/>
              <a:t> </a:t>
            </a:r>
            <a:r>
              <a:rPr lang="en-US" dirty="0" err="1" smtClean="0"/>
              <a:t>jr.</a:t>
            </a:r>
            <a:endParaRPr lang="en-US" dirty="0" smtClean="0"/>
          </a:p>
        </p:txBody>
      </p:sp>
    </p:spTree>
    <p:extLst>
      <p:ext uri="{BB962C8B-B14F-4D97-AF65-F5344CB8AC3E}">
        <p14:creationId xmlns:p14="http://schemas.microsoft.com/office/powerpoint/2010/main" val="35773943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0320" y="-32238"/>
            <a:ext cx="10353761" cy="1326321"/>
          </a:xfrm>
        </p:spPr>
        <p:txBody>
          <a:bodyPr/>
          <a:lstStyle/>
          <a:p>
            <a:r>
              <a:rPr lang="en-US" dirty="0">
                <a:effectLst/>
              </a:rPr>
              <a:t>Background of the Study</a:t>
            </a:r>
            <a:endParaRPr lang="en-PH" dirty="0">
              <a:effectLst/>
            </a:endParaRPr>
          </a:p>
        </p:txBody>
      </p:sp>
      <p:sp>
        <p:nvSpPr>
          <p:cNvPr id="3" name="Content Placeholder 2"/>
          <p:cNvSpPr>
            <a:spLocks noGrp="1"/>
          </p:cNvSpPr>
          <p:nvPr>
            <p:ph idx="1"/>
          </p:nvPr>
        </p:nvSpPr>
        <p:spPr>
          <a:xfrm>
            <a:off x="913795" y="1072663"/>
            <a:ext cx="10353762" cy="5468814"/>
          </a:xfrm>
        </p:spPr>
        <p:txBody>
          <a:bodyPr>
            <a:normAutofit fontScale="85000" lnSpcReduction="20000"/>
          </a:bodyPr>
          <a:lstStyle/>
          <a:p>
            <a:r>
              <a:rPr lang="en-US" dirty="0" smtClean="0">
                <a:effectLst/>
              </a:rPr>
              <a:t>             </a:t>
            </a:r>
            <a:r>
              <a:rPr lang="en-PH" sz="2100" dirty="0">
                <a:effectLst/>
              </a:rPr>
              <a:t>Technology has witnessed impressive evolution in the past few decades, which has transformed various aspects of human life, especially in work and education. One major development in education is the improvement in how schools manage student data. In </a:t>
            </a:r>
            <a:r>
              <a:rPr lang="en-PH" sz="2100" dirty="0" err="1">
                <a:effectLst/>
              </a:rPr>
              <a:t>Kalandagan</a:t>
            </a:r>
            <a:r>
              <a:rPr lang="en-PH" sz="2100" dirty="0">
                <a:effectLst/>
              </a:rPr>
              <a:t> Elementary School, teachers still use traditional methods such as roll calls and paper-based attendance sheets. These manual processes are time-consuming, prone to human errors, and do not provide immediate access to information. To address these challenges, a QR code-based attendance system is proposed to streamline the process by allowing students to scan their codes upon entering and leaving the school premises, automatically generating SMS notifications to parents about their children’s arrival and departure.</a:t>
            </a:r>
          </a:p>
          <a:p>
            <a:pPr marL="0" indent="0" algn="just">
              <a:buNone/>
            </a:pPr>
            <a:endParaRPr lang="en-US" sz="2500" dirty="0" smtClean="0">
              <a:effectLst/>
            </a:endParaRPr>
          </a:p>
          <a:p>
            <a:r>
              <a:rPr lang="en-US" sz="2100" dirty="0">
                <a:effectLst/>
              </a:rPr>
              <a:t> </a:t>
            </a:r>
            <a:r>
              <a:rPr lang="en-US" sz="2100" dirty="0" smtClean="0">
                <a:effectLst/>
              </a:rPr>
              <a:t>          </a:t>
            </a:r>
            <a:r>
              <a:rPr lang="en-PH" sz="2100" dirty="0">
                <a:effectLst/>
              </a:rPr>
              <a:t>According to Li (2025), time management has become an essential factor in modern life, leading to the preference for automated systems over manual processes. The Internet of Things (</a:t>
            </a:r>
            <a:r>
              <a:rPr lang="en-PH" sz="2100" dirty="0" err="1">
                <a:effectLst/>
              </a:rPr>
              <a:t>IoT</a:t>
            </a:r>
            <a:r>
              <a:rPr lang="en-PH" sz="2100" dirty="0">
                <a:effectLst/>
              </a:rPr>
              <a:t>) plays a major role in advancing such automation across various sectors, including education. RFID technology, widely used in agriculture, transportation, and sales, can also be applied to automate attendance-taking in schools. Manual attendance methods are often time-consuming and error-prone, and they may result in inaccuracies or even misconduct. Implementing an </a:t>
            </a:r>
            <a:r>
              <a:rPr lang="en-PH" sz="2100" dirty="0" err="1">
                <a:effectLst/>
              </a:rPr>
              <a:t>IoT</a:t>
            </a:r>
            <a:r>
              <a:rPr lang="en-PH" sz="2100" dirty="0">
                <a:effectLst/>
              </a:rPr>
              <a:t>-based RFID system can significantly enhance efficiency and accuracy in attendance recording (Li, 2025).</a:t>
            </a:r>
          </a:p>
        </p:txBody>
      </p:sp>
    </p:spTree>
    <p:extLst>
      <p:ext uri="{BB962C8B-B14F-4D97-AF65-F5344CB8AC3E}">
        <p14:creationId xmlns:p14="http://schemas.microsoft.com/office/powerpoint/2010/main" val="6870805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913795" y="483577"/>
            <a:ext cx="10353762" cy="5556738"/>
          </a:xfrm>
        </p:spPr>
        <p:txBody>
          <a:bodyPr>
            <a:normAutofit/>
          </a:bodyPr>
          <a:lstStyle/>
          <a:p>
            <a:r>
              <a:rPr lang="en-PH" dirty="0" smtClean="0">
                <a:effectLst/>
              </a:rPr>
              <a:t>      </a:t>
            </a:r>
            <a:r>
              <a:rPr lang="en-PH" sz="1600" dirty="0">
                <a:effectLst/>
              </a:rPr>
              <a:t>Inaccurate or delayed attendance recording can create confusion between students, teachers, and parents, potentially affecting a student’s grades and academic standing. Outdated manual systems slow down administrative tasks and hinder accurate monitoring of attendance. In schools, checking attendance is a daily activity conducted to ensure that students are present in class. Common manual methods such as roll calling, class records, and attendance sheets often suffer from inefficiency and errors. These issues highlight the need for a more reliable, technology-driven solution.</a:t>
            </a:r>
          </a:p>
          <a:p>
            <a:r>
              <a:rPr lang="en-PH" dirty="0" smtClean="0">
                <a:effectLst/>
              </a:rPr>
              <a:t>       </a:t>
            </a:r>
            <a:r>
              <a:rPr lang="en-PH" sz="1600" dirty="0" smtClean="0">
                <a:effectLst/>
              </a:rPr>
              <a:t>In </a:t>
            </a:r>
            <a:r>
              <a:rPr lang="en-PH" sz="1600" dirty="0">
                <a:effectLst/>
              </a:rPr>
              <a:t>response to these challenges, the researchers propose a QR code-based student attendance monitoring system. This system will allow for the efficient and accurate recording of student attendance, reducing human errors and saving valuable time. The automated process will also provide real-time access to attendance records, benefiting both school administrators and parents. By replacing the manual system with this digital solution, schools can improve accuracy, efficiency, and communication between all stakeholders</a:t>
            </a:r>
          </a:p>
        </p:txBody>
      </p:sp>
    </p:spTree>
    <p:extLst>
      <p:ext uri="{BB962C8B-B14F-4D97-AF65-F5344CB8AC3E}">
        <p14:creationId xmlns:p14="http://schemas.microsoft.com/office/powerpoint/2010/main" val="21781424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789" y="0"/>
            <a:ext cx="10353761" cy="1326321"/>
          </a:xfrm>
        </p:spPr>
        <p:txBody>
          <a:bodyPr/>
          <a:lstStyle/>
          <a:p>
            <a:r>
              <a:rPr lang="en-PH" dirty="0">
                <a:effectLst/>
              </a:rPr>
              <a:t>Objectives of the Study</a:t>
            </a:r>
          </a:p>
        </p:txBody>
      </p:sp>
      <p:sp>
        <p:nvSpPr>
          <p:cNvPr id="3" name="Content Placeholder 2"/>
          <p:cNvSpPr>
            <a:spLocks noGrp="1"/>
          </p:cNvSpPr>
          <p:nvPr>
            <p:ph idx="1"/>
          </p:nvPr>
        </p:nvSpPr>
        <p:spPr/>
        <p:txBody>
          <a:bodyPr/>
          <a:lstStyle/>
          <a:p>
            <a:pPr marL="0" indent="0">
              <a:buNone/>
            </a:pPr>
            <a:r>
              <a:rPr lang="en-PH" b="1" dirty="0">
                <a:effectLst/>
              </a:rPr>
              <a:t>General Objective:</a:t>
            </a:r>
            <a:endParaRPr lang="en-PH" dirty="0">
              <a:effectLst/>
            </a:endParaRPr>
          </a:p>
          <a:p>
            <a:pPr marL="0" indent="0">
              <a:buNone/>
            </a:pPr>
            <a:r>
              <a:rPr lang="en-US" dirty="0" smtClean="0">
                <a:effectLst/>
              </a:rPr>
              <a:t>     This </a:t>
            </a:r>
            <a:r>
              <a:rPr lang="en-US" dirty="0">
                <a:effectLst/>
              </a:rPr>
              <a:t>study generally aims to develop and evaluate the </a:t>
            </a:r>
            <a:r>
              <a:rPr lang="en-US" dirty="0" smtClean="0">
                <a:effectLst/>
              </a:rPr>
              <a:t>“</a:t>
            </a:r>
            <a:r>
              <a:rPr lang="en-US" b="1" dirty="0">
                <a:effectLst/>
              </a:rPr>
              <a:t>KES-SMART: KES STUDENT MONITORING APPLICATION WITH REAL-TIME QR AND SMS NOTIFICATIONS</a:t>
            </a:r>
            <a:r>
              <a:rPr lang="en-US" dirty="0" smtClean="0">
                <a:effectLst/>
              </a:rPr>
              <a:t>”</a:t>
            </a:r>
            <a:endParaRPr lang="en-PH" dirty="0">
              <a:effectLst/>
            </a:endParaRPr>
          </a:p>
        </p:txBody>
      </p:sp>
    </p:spTree>
    <p:extLst>
      <p:ext uri="{BB962C8B-B14F-4D97-AF65-F5344CB8AC3E}">
        <p14:creationId xmlns:p14="http://schemas.microsoft.com/office/powerpoint/2010/main" val="42384807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1051" y="72711"/>
            <a:ext cx="10353761" cy="1326321"/>
          </a:xfrm>
        </p:spPr>
        <p:txBody>
          <a:bodyPr/>
          <a:lstStyle/>
          <a:p>
            <a:r>
              <a:rPr lang="en-US" dirty="0">
                <a:effectLst/>
              </a:rPr>
              <a:t>Specific Objectives:</a:t>
            </a:r>
            <a:r>
              <a:rPr lang="en-PH" dirty="0">
                <a:effectLst/>
              </a:rPr>
              <a:t/>
            </a:r>
            <a:br>
              <a:rPr lang="en-PH" dirty="0">
                <a:effectLst/>
              </a:rPr>
            </a:br>
            <a:endParaRPr lang="en-PH" dirty="0">
              <a:effectLst/>
            </a:endParaRPr>
          </a:p>
        </p:txBody>
      </p:sp>
      <p:sp>
        <p:nvSpPr>
          <p:cNvPr id="3" name="Content Placeholder 2"/>
          <p:cNvSpPr>
            <a:spLocks noGrp="1"/>
          </p:cNvSpPr>
          <p:nvPr>
            <p:ph idx="1"/>
          </p:nvPr>
        </p:nvSpPr>
        <p:spPr>
          <a:xfrm>
            <a:off x="969264" y="713232"/>
            <a:ext cx="8503920" cy="6144768"/>
          </a:xfrm>
        </p:spPr>
        <p:txBody>
          <a:bodyPr>
            <a:noAutofit/>
          </a:bodyPr>
          <a:lstStyle/>
          <a:p>
            <a:pPr marL="0" indent="0">
              <a:buNone/>
            </a:pPr>
            <a:r>
              <a:rPr lang="en-US" sz="1600" dirty="0">
                <a:effectLst/>
              </a:rPr>
              <a:t>This study specifically aims to:</a:t>
            </a:r>
            <a:endParaRPr lang="en-PH" sz="1600" dirty="0">
              <a:effectLst/>
            </a:endParaRPr>
          </a:p>
          <a:p>
            <a:pPr marL="0" lvl="0" indent="0">
              <a:buNone/>
            </a:pPr>
            <a:r>
              <a:rPr lang="en-US" sz="1100" dirty="0" smtClean="0">
                <a:effectLst/>
              </a:rPr>
              <a:t>1.</a:t>
            </a:r>
            <a:r>
              <a:rPr lang="en-US" sz="1100" dirty="0">
                <a:effectLst/>
              </a:rPr>
              <a:t> Manage user’s information and account</a:t>
            </a:r>
            <a:r>
              <a:rPr lang="en-US" sz="1100" dirty="0" smtClean="0">
                <a:effectLst/>
              </a:rPr>
              <a:t>.</a:t>
            </a:r>
          </a:p>
          <a:p>
            <a:pPr marL="0" lvl="0" indent="0">
              <a:buNone/>
            </a:pPr>
            <a:r>
              <a:rPr lang="en-US" sz="1100" dirty="0" smtClean="0">
                <a:effectLst/>
              </a:rPr>
              <a:t>2.</a:t>
            </a:r>
            <a:r>
              <a:rPr lang="en-US" sz="1100" dirty="0">
                <a:effectLst/>
              </a:rPr>
              <a:t> Provide an interface for (Admin, Teacher, Student and Parent</a:t>
            </a:r>
            <a:r>
              <a:rPr lang="en-US" sz="1100" dirty="0" smtClean="0">
                <a:effectLst/>
              </a:rPr>
              <a:t>).</a:t>
            </a:r>
          </a:p>
          <a:p>
            <a:pPr marL="0" lvl="0" indent="0">
              <a:buNone/>
            </a:pPr>
            <a:r>
              <a:rPr lang="en-US" sz="1100" dirty="0" smtClean="0">
                <a:effectLst/>
              </a:rPr>
              <a:t>3.</a:t>
            </a:r>
            <a:r>
              <a:rPr lang="en-US" sz="1100" dirty="0">
                <a:effectLst/>
              </a:rPr>
              <a:t> Develop a mobile application that allows teacher to efficiently monitor student attendance using QR code scanning</a:t>
            </a:r>
            <a:r>
              <a:rPr lang="en-US" sz="1100" dirty="0" smtClean="0">
                <a:effectLst/>
              </a:rPr>
              <a:t>.</a:t>
            </a:r>
          </a:p>
          <a:p>
            <a:pPr marL="0" indent="0">
              <a:buNone/>
            </a:pPr>
            <a:r>
              <a:rPr lang="en-US" sz="1100" dirty="0" smtClean="0">
                <a:effectLst/>
              </a:rPr>
              <a:t>4.</a:t>
            </a:r>
            <a:r>
              <a:rPr lang="en-US" sz="1100" dirty="0">
                <a:effectLst/>
              </a:rPr>
              <a:t> Allow parent to view their attendance automatically.</a:t>
            </a:r>
            <a:endParaRPr lang="en-US" sz="1100" dirty="0" smtClean="0">
              <a:effectLst/>
            </a:endParaRPr>
          </a:p>
          <a:p>
            <a:pPr marL="0" lvl="0" indent="0">
              <a:buNone/>
            </a:pPr>
            <a:r>
              <a:rPr lang="en-US" sz="1100" dirty="0" smtClean="0">
                <a:effectLst/>
              </a:rPr>
              <a:t>5.</a:t>
            </a:r>
            <a:r>
              <a:rPr lang="en-US" sz="1100" dirty="0">
                <a:effectLst/>
              </a:rPr>
              <a:t> Provide a feature that the system can evaluate </a:t>
            </a:r>
            <a:r>
              <a:rPr lang="en-US" sz="1100" dirty="0" smtClean="0">
                <a:effectLst/>
              </a:rPr>
              <a:t>automatically</a:t>
            </a:r>
          </a:p>
          <a:p>
            <a:pPr marL="0" lvl="0" indent="0">
              <a:buNone/>
            </a:pPr>
            <a:r>
              <a:rPr lang="en-US" sz="1100" dirty="0" smtClean="0">
                <a:effectLst/>
              </a:rPr>
              <a:t>6.</a:t>
            </a:r>
            <a:r>
              <a:rPr lang="en-US" sz="1100" dirty="0">
                <a:effectLst/>
              </a:rPr>
              <a:t> Integrate an SMS notification system to instantly notify the parents</a:t>
            </a:r>
            <a:r>
              <a:rPr lang="en-US" sz="1100" dirty="0" smtClean="0">
                <a:effectLst/>
              </a:rPr>
              <a:t>.</a:t>
            </a:r>
          </a:p>
          <a:p>
            <a:pPr marL="0" indent="0">
              <a:buNone/>
            </a:pPr>
            <a:r>
              <a:rPr lang="en-US" sz="1100" dirty="0" smtClean="0">
                <a:effectLst/>
              </a:rPr>
              <a:t>7.</a:t>
            </a:r>
            <a:r>
              <a:rPr lang="en-US" sz="1100" dirty="0">
                <a:effectLst/>
              </a:rPr>
              <a:t> General reports such as</a:t>
            </a:r>
            <a:r>
              <a:rPr lang="en-US" sz="1100" dirty="0" smtClean="0">
                <a:effectLst/>
              </a:rPr>
              <a:t>;                                                                       </a:t>
            </a:r>
          </a:p>
          <a:p>
            <a:pPr marL="0" indent="0">
              <a:buNone/>
            </a:pPr>
            <a:r>
              <a:rPr lang="en-US" sz="1100" dirty="0">
                <a:effectLst/>
              </a:rPr>
              <a:t> </a:t>
            </a:r>
            <a:r>
              <a:rPr lang="en-US" sz="1100" dirty="0" smtClean="0">
                <a:effectLst/>
              </a:rPr>
              <a:t>     7.1. </a:t>
            </a:r>
            <a:r>
              <a:rPr lang="en-US" sz="1100" dirty="0">
                <a:effectLst/>
              </a:rPr>
              <a:t>List of students</a:t>
            </a:r>
            <a:endParaRPr lang="en-US" sz="1100" dirty="0" smtClean="0">
              <a:effectLst/>
            </a:endParaRPr>
          </a:p>
          <a:p>
            <a:pPr marL="0" indent="0">
              <a:buNone/>
            </a:pPr>
            <a:r>
              <a:rPr lang="en-US" sz="1100" dirty="0" smtClean="0">
                <a:effectLst/>
              </a:rPr>
              <a:t>            7.1.1.</a:t>
            </a:r>
            <a:r>
              <a:rPr lang="en-US" dirty="0">
                <a:effectLst/>
              </a:rPr>
              <a:t> </a:t>
            </a:r>
            <a:r>
              <a:rPr lang="en-US" sz="1100" dirty="0">
                <a:effectLst/>
              </a:rPr>
              <a:t>Per </a:t>
            </a:r>
            <a:r>
              <a:rPr lang="en-US" sz="1100" dirty="0" smtClean="0">
                <a:effectLst/>
              </a:rPr>
              <a:t>section</a:t>
            </a:r>
            <a:endParaRPr lang="en-US" sz="1100" dirty="0">
              <a:effectLst/>
            </a:endParaRPr>
          </a:p>
          <a:p>
            <a:pPr marL="0" indent="0">
              <a:buNone/>
            </a:pPr>
            <a:r>
              <a:rPr lang="en-US" sz="1100" dirty="0" smtClean="0">
                <a:effectLst/>
              </a:rPr>
              <a:t>7.2.</a:t>
            </a:r>
            <a:r>
              <a:rPr lang="en-US" dirty="0">
                <a:effectLst/>
              </a:rPr>
              <a:t> </a:t>
            </a:r>
            <a:r>
              <a:rPr lang="en-US" sz="1100" dirty="0">
                <a:effectLst/>
              </a:rPr>
              <a:t>Student information sheet</a:t>
            </a:r>
            <a:endParaRPr lang="en-US" sz="1100" dirty="0" smtClean="0">
              <a:effectLst/>
            </a:endParaRPr>
          </a:p>
          <a:p>
            <a:pPr marL="0" indent="0">
              <a:buNone/>
            </a:pPr>
            <a:r>
              <a:rPr lang="en-US" sz="1100" dirty="0">
                <a:effectLst/>
              </a:rPr>
              <a:t> </a:t>
            </a:r>
            <a:r>
              <a:rPr lang="en-US" sz="1100" dirty="0" smtClean="0">
                <a:effectLst/>
              </a:rPr>
              <a:t>     7.3.</a:t>
            </a:r>
            <a:r>
              <a:rPr lang="en-US" dirty="0">
                <a:effectLst/>
              </a:rPr>
              <a:t> </a:t>
            </a:r>
            <a:r>
              <a:rPr lang="en-US" sz="1100" dirty="0">
                <a:effectLst/>
              </a:rPr>
              <a:t>QR Code</a:t>
            </a:r>
            <a:endParaRPr lang="en-US" sz="1100" dirty="0" smtClean="0">
              <a:effectLst/>
            </a:endParaRPr>
          </a:p>
          <a:p>
            <a:pPr marL="0" lvl="1" indent="0">
              <a:spcBef>
                <a:spcPts val="1000"/>
              </a:spcBef>
              <a:buNone/>
            </a:pPr>
            <a:r>
              <a:rPr lang="en-US" sz="1100" dirty="0" smtClean="0">
                <a:effectLst/>
              </a:rPr>
              <a:t>      7.4.</a:t>
            </a:r>
            <a:r>
              <a:rPr lang="en-US" dirty="0">
                <a:effectLst/>
              </a:rPr>
              <a:t> </a:t>
            </a:r>
            <a:r>
              <a:rPr lang="en-US" sz="1100" dirty="0">
                <a:effectLst/>
              </a:rPr>
              <a:t>Attendance </a:t>
            </a:r>
            <a:r>
              <a:rPr lang="en-US" sz="1100" dirty="0" smtClean="0">
                <a:effectLst/>
              </a:rPr>
              <a:t>Record</a:t>
            </a:r>
          </a:p>
          <a:p>
            <a:pPr marL="0" indent="0">
              <a:buNone/>
            </a:pPr>
            <a:r>
              <a:rPr lang="en-US" sz="1100" dirty="0" smtClean="0">
                <a:effectLst/>
              </a:rPr>
              <a:t>            7.4.1.</a:t>
            </a:r>
            <a:r>
              <a:rPr lang="en-US" dirty="0">
                <a:effectLst/>
              </a:rPr>
              <a:t> </a:t>
            </a:r>
            <a:r>
              <a:rPr lang="en-US" sz="1100" dirty="0">
                <a:effectLst/>
              </a:rPr>
              <a:t>Per Section</a:t>
            </a:r>
            <a:endParaRPr lang="en-US" sz="1100" dirty="0" smtClean="0">
              <a:effectLst/>
            </a:endParaRPr>
          </a:p>
          <a:p>
            <a:pPr marL="0" indent="0">
              <a:buNone/>
            </a:pPr>
            <a:r>
              <a:rPr lang="en-US" sz="1100" dirty="0" smtClean="0">
                <a:effectLst/>
              </a:rPr>
              <a:t>            7.4.2.</a:t>
            </a:r>
            <a:r>
              <a:rPr lang="en-US" dirty="0" smtClean="0">
                <a:effectLst/>
              </a:rPr>
              <a:t> </a:t>
            </a:r>
            <a:r>
              <a:rPr lang="en-US" sz="1100" dirty="0">
                <a:effectLst/>
              </a:rPr>
              <a:t>Per </a:t>
            </a:r>
            <a:r>
              <a:rPr lang="en-US" sz="1100" dirty="0" smtClean="0">
                <a:effectLst/>
              </a:rPr>
              <a:t>Student</a:t>
            </a:r>
          </a:p>
        </p:txBody>
      </p:sp>
      <p:sp>
        <p:nvSpPr>
          <p:cNvPr id="4" name="TextBox 3"/>
          <p:cNvSpPr txBox="1"/>
          <p:nvPr/>
        </p:nvSpPr>
        <p:spPr>
          <a:xfrm>
            <a:off x="4791456" y="3550432"/>
            <a:ext cx="4291584" cy="938719"/>
          </a:xfrm>
          <a:prstGeom prst="rect">
            <a:avLst/>
          </a:prstGeom>
          <a:noFill/>
        </p:spPr>
        <p:txBody>
          <a:bodyPr wrap="square" rtlCol="0">
            <a:spAutoFit/>
          </a:bodyPr>
          <a:lstStyle/>
          <a:p>
            <a:r>
              <a:rPr lang="en-US" sz="1100" dirty="0" smtClean="0"/>
              <a:t>8.</a:t>
            </a:r>
            <a:r>
              <a:rPr lang="en-US" sz="1100" dirty="0"/>
              <a:t> Evaluate the system in terms of;</a:t>
            </a:r>
            <a:endParaRPr lang="en-US" sz="1100" dirty="0" smtClean="0"/>
          </a:p>
          <a:p>
            <a:r>
              <a:rPr lang="en-US" sz="1100" dirty="0"/>
              <a:t> </a:t>
            </a:r>
            <a:r>
              <a:rPr lang="en-US" sz="1100" dirty="0" smtClean="0"/>
              <a:t>     8.1.</a:t>
            </a:r>
            <a:r>
              <a:rPr lang="en-US" sz="1100" dirty="0"/>
              <a:t> Functionality</a:t>
            </a:r>
            <a:endParaRPr lang="en-US" sz="1100" dirty="0" smtClean="0"/>
          </a:p>
          <a:p>
            <a:r>
              <a:rPr lang="en-US" sz="1100" dirty="0"/>
              <a:t> </a:t>
            </a:r>
            <a:r>
              <a:rPr lang="en-US" sz="1100" dirty="0" smtClean="0"/>
              <a:t>     8.2.</a:t>
            </a:r>
            <a:r>
              <a:rPr lang="en-US" sz="1100" dirty="0"/>
              <a:t> Accessibility</a:t>
            </a:r>
            <a:endParaRPr lang="en-US" sz="1100" dirty="0" smtClean="0"/>
          </a:p>
          <a:p>
            <a:r>
              <a:rPr lang="en-US" sz="1100" dirty="0"/>
              <a:t> </a:t>
            </a:r>
            <a:r>
              <a:rPr lang="en-US" sz="1100" dirty="0" smtClean="0"/>
              <a:t>     8.3.</a:t>
            </a:r>
            <a:r>
              <a:rPr lang="en-US" sz="1100" dirty="0"/>
              <a:t> Accuracy</a:t>
            </a:r>
            <a:endParaRPr lang="en-US" sz="1100" dirty="0" smtClean="0"/>
          </a:p>
          <a:p>
            <a:r>
              <a:rPr lang="en-US" sz="1100" dirty="0"/>
              <a:t> </a:t>
            </a:r>
            <a:r>
              <a:rPr lang="en-US" sz="1100" dirty="0" smtClean="0"/>
              <a:t>     8.4.</a:t>
            </a:r>
            <a:r>
              <a:rPr lang="en-US" sz="1100" dirty="0"/>
              <a:t> Security</a:t>
            </a:r>
            <a:endParaRPr lang="en-PH" sz="1100" dirty="0"/>
          </a:p>
        </p:txBody>
      </p:sp>
    </p:spTree>
    <p:extLst>
      <p:ext uri="{BB962C8B-B14F-4D97-AF65-F5344CB8AC3E}">
        <p14:creationId xmlns:p14="http://schemas.microsoft.com/office/powerpoint/2010/main" val="29653487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5448" y="36576"/>
            <a:ext cx="6025896" cy="800219"/>
          </a:xfrm>
          <a:prstGeom prst="rect">
            <a:avLst/>
          </a:prstGeom>
          <a:noFill/>
        </p:spPr>
        <p:txBody>
          <a:bodyPr wrap="square" rtlCol="0">
            <a:spAutoFit/>
          </a:bodyPr>
          <a:lstStyle/>
          <a:p>
            <a:r>
              <a:rPr lang="en-US" sz="2800" b="1" dirty="0"/>
              <a:t>Significance of the Study</a:t>
            </a:r>
            <a:endParaRPr lang="en-PH" sz="2800" dirty="0"/>
          </a:p>
          <a:p>
            <a:endParaRPr lang="en-PH" dirty="0"/>
          </a:p>
        </p:txBody>
      </p:sp>
      <p:sp>
        <p:nvSpPr>
          <p:cNvPr id="3" name="TextBox 2"/>
          <p:cNvSpPr txBox="1"/>
          <p:nvPr/>
        </p:nvSpPr>
        <p:spPr>
          <a:xfrm flipH="1">
            <a:off x="740658" y="1195751"/>
            <a:ext cx="10478326" cy="5416868"/>
          </a:xfrm>
          <a:prstGeom prst="rect">
            <a:avLst/>
          </a:prstGeom>
          <a:noFill/>
        </p:spPr>
        <p:txBody>
          <a:bodyPr wrap="square" rtlCol="0">
            <a:spAutoFit/>
          </a:bodyPr>
          <a:lstStyle/>
          <a:p>
            <a:r>
              <a:rPr lang="en-US" b="1" dirty="0"/>
              <a:t>The </a:t>
            </a:r>
            <a:r>
              <a:rPr lang="en-US" b="1" dirty="0" smtClean="0"/>
              <a:t>Administrators</a:t>
            </a:r>
          </a:p>
          <a:p>
            <a:pPr marL="285750" indent="-285750">
              <a:buFont typeface="Arial" panose="020B0604020202020204" pitchFamily="34" charset="0"/>
              <a:buChar char="•"/>
            </a:pPr>
            <a:r>
              <a:rPr lang="en-US" sz="1400" dirty="0"/>
              <a:t>This study was beneficial to the administrator by giving them a better way to manage student attendance records. Instead of checking logbooks or waiting for reports, they could access everything in one place online. It saved time, avoided errors, and helped them keep track of important data like who is attending classes and student reports</a:t>
            </a:r>
            <a:r>
              <a:rPr lang="en-US" sz="1400" dirty="0" smtClean="0"/>
              <a:t>.</a:t>
            </a:r>
          </a:p>
          <a:p>
            <a:endParaRPr lang="en-US" sz="1400" dirty="0" smtClean="0"/>
          </a:p>
          <a:p>
            <a:r>
              <a:rPr lang="en-US" b="1" dirty="0"/>
              <a:t>The </a:t>
            </a:r>
            <a:r>
              <a:rPr lang="en-US" b="1" dirty="0" smtClean="0"/>
              <a:t>Teachers</a:t>
            </a:r>
          </a:p>
          <a:p>
            <a:pPr marL="285750" indent="-285750">
              <a:buFont typeface="Arial" panose="020B0604020202020204" pitchFamily="34" charset="0"/>
              <a:buChar char="•"/>
            </a:pPr>
            <a:r>
              <a:rPr lang="en-US" sz="1400" dirty="0"/>
              <a:t>To the teachers who struggles regarding of monitoring the attendance of their attendance to control the problem encountered using traditional manual methods it is very useful to easily access and calculate the attendance records of their students and to monitor the absences. It also helps teachers to easily access attendance records without any manual searching allowing teachers to focus more on teaching</a:t>
            </a:r>
            <a:r>
              <a:rPr lang="en-US" sz="1400" dirty="0" smtClean="0"/>
              <a:t>.</a:t>
            </a:r>
          </a:p>
          <a:p>
            <a:endParaRPr lang="en-US" sz="1400" dirty="0" smtClean="0"/>
          </a:p>
          <a:p>
            <a:r>
              <a:rPr lang="en-US" b="1" dirty="0"/>
              <a:t>The </a:t>
            </a:r>
            <a:r>
              <a:rPr lang="en-US" b="1" dirty="0" smtClean="0"/>
              <a:t>Students</a:t>
            </a:r>
          </a:p>
          <a:p>
            <a:pPr marL="285750" indent="-285750">
              <a:buFont typeface="Arial" panose="020B0604020202020204" pitchFamily="34" charset="0"/>
              <a:buChar char="•"/>
            </a:pPr>
            <a:r>
              <a:rPr lang="en-US" sz="1600" dirty="0"/>
              <a:t>To the student implement of an attendance monitoring system ensures that student’s attendance is accurately recorded. This helps in maintaining transparency, ensuring accountability, and encouraging students to be more responsible for their attendance</a:t>
            </a:r>
            <a:r>
              <a:rPr lang="en-US" sz="1600" dirty="0" smtClean="0"/>
              <a:t>.</a:t>
            </a:r>
          </a:p>
          <a:p>
            <a:endParaRPr lang="en-US" sz="1600" dirty="0" smtClean="0"/>
          </a:p>
          <a:p>
            <a:r>
              <a:rPr lang="en-US" b="1" dirty="0"/>
              <a:t>The </a:t>
            </a:r>
            <a:r>
              <a:rPr lang="en-US" b="1" dirty="0" smtClean="0"/>
              <a:t>Researchers</a:t>
            </a:r>
            <a:endParaRPr lang="en-US" sz="1200" dirty="0" smtClean="0"/>
          </a:p>
          <a:p>
            <a:pPr marL="285750" indent="-285750">
              <a:buFont typeface="Arial" panose="020B0604020202020204" pitchFamily="34" charset="0"/>
              <a:buChar char="•"/>
            </a:pPr>
            <a:r>
              <a:rPr lang="en-US" dirty="0"/>
              <a:t>This study is beneficial and benefited the researchers with knowledge about attendance monitoring. It enhances the researchers understanding of management, scheduling system and assistance services process. The researchers gained actual information on how the system works</a:t>
            </a:r>
            <a:r>
              <a:rPr lang="en-US" dirty="0" smtClean="0"/>
              <a:t>.</a:t>
            </a:r>
          </a:p>
          <a:p>
            <a:pPr marL="285750" indent="-285750">
              <a:buFont typeface="Arial" panose="020B0604020202020204" pitchFamily="34" charset="0"/>
              <a:buChar char="•"/>
            </a:pPr>
            <a:endParaRPr lang="en-PH" sz="1200" dirty="0"/>
          </a:p>
        </p:txBody>
      </p:sp>
    </p:spTree>
    <p:extLst>
      <p:ext uri="{BB962C8B-B14F-4D97-AF65-F5344CB8AC3E}">
        <p14:creationId xmlns:p14="http://schemas.microsoft.com/office/powerpoint/2010/main" val="9650192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40664" y="429768"/>
            <a:ext cx="9491472" cy="3877985"/>
          </a:xfrm>
          <a:prstGeom prst="rect">
            <a:avLst/>
          </a:prstGeom>
          <a:noFill/>
        </p:spPr>
        <p:txBody>
          <a:bodyPr wrap="square" rtlCol="0">
            <a:spAutoFit/>
          </a:bodyPr>
          <a:lstStyle/>
          <a:p>
            <a:r>
              <a:rPr lang="en-US" b="1" dirty="0"/>
              <a:t>The Future </a:t>
            </a:r>
            <a:r>
              <a:rPr lang="en-US" b="1" dirty="0" smtClean="0"/>
              <a:t>Researcher</a:t>
            </a:r>
          </a:p>
          <a:p>
            <a:pPr marL="285750" indent="-285750">
              <a:buFont typeface="Arial" panose="020B0604020202020204" pitchFamily="34" charset="0"/>
              <a:buChar char="•"/>
            </a:pPr>
            <a:r>
              <a:rPr lang="en-US" sz="1600" dirty="0"/>
              <a:t>Future researchers can use this study as a reference for similar projects or for further improvements in attendance monitoring system. It provides a framework for developing efficient, technology driven solutions in educational institutions, ensuring the systems continuous improvement and wider</a:t>
            </a:r>
            <a:r>
              <a:rPr lang="en-US" sz="1600" dirty="0" smtClean="0"/>
              <a:t>.</a:t>
            </a:r>
          </a:p>
          <a:p>
            <a:endParaRPr lang="en-US" sz="1600" dirty="0"/>
          </a:p>
          <a:p>
            <a:r>
              <a:rPr lang="en-US" b="1" dirty="0"/>
              <a:t>The </a:t>
            </a:r>
            <a:r>
              <a:rPr lang="en-US" b="1" dirty="0" smtClean="0"/>
              <a:t>School</a:t>
            </a:r>
          </a:p>
          <a:p>
            <a:pPr marL="285750" indent="-285750">
              <a:buFont typeface="Arial" panose="020B0604020202020204" pitchFamily="34" charset="0"/>
              <a:buChar char="•"/>
            </a:pPr>
            <a:r>
              <a:rPr lang="en-US" sz="1600" dirty="0"/>
              <a:t>The system allows for better student attendance tracking, reducing errors and inefficiencies. It provides administrators with accurate data to make informed decisions, interventions, and school management strategies</a:t>
            </a:r>
            <a:r>
              <a:rPr lang="en-US" sz="1600" dirty="0" smtClean="0"/>
              <a:t>.</a:t>
            </a:r>
          </a:p>
          <a:p>
            <a:pPr marL="285750" indent="-285750">
              <a:buFont typeface="Arial" panose="020B0604020202020204" pitchFamily="34" charset="0"/>
              <a:buChar char="•"/>
            </a:pPr>
            <a:endParaRPr lang="en-US" sz="1600" dirty="0"/>
          </a:p>
          <a:p>
            <a:r>
              <a:rPr lang="en-US" b="1" dirty="0"/>
              <a:t>To the </a:t>
            </a:r>
            <a:r>
              <a:rPr lang="en-US" b="1" dirty="0" smtClean="0"/>
              <a:t>Parents</a:t>
            </a:r>
          </a:p>
          <a:p>
            <a:pPr marL="285750" indent="-285750">
              <a:buFont typeface="Arial" panose="020B0604020202020204" pitchFamily="34" charset="0"/>
              <a:buChar char="•"/>
            </a:pPr>
            <a:r>
              <a:rPr lang="en-US" sz="1600" dirty="0"/>
              <a:t>Timely and accurate notification about their child's attendance to ensure the safety of their children</a:t>
            </a:r>
            <a:r>
              <a:rPr lang="en-US" sz="1600" dirty="0" smtClean="0"/>
              <a:t>.</a:t>
            </a:r>
          </a:p>
          <a:p>
            <a:pPr marL="285750" indent="-285750">
              <a:buFont typeface="Arial" panose="020B0604020202020204" pitchFamily="34" charset="0"/>
              <a:buChar char="•"/>
            </a:pPr>
            <a:endParaRPr lang="en-PH" sz="1600" dirty="0"/>
          </a:p>
        </p:txBody>
      </p:sp>
    </p:spTree>
    <p:extLst>
      <p:ext uri="{BB962C8B-B14F-4D97-AF65-F5344CB8AC3E}">
        <p14:creationId xmlns:p14="http://schemas.microsoft.com/office/powerpoint/2010/main" val="13561799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703385"/>
            <a:ext cx="10041420" cy="4360984"/>
          </a:xfrm>
        </p:spPr>
        <p:txBody>
          <a:bodyPr>
            <a:normAutofit/>
          </a:bodyPr>
          <a:lstStyle/>
          <a:p>
            <a:pPr marL="0" indent="0">
              <a:buNone/>
            </a:pPr>
            <a:r>
              <a:rPr lang="en-US" b="1" dirty="0">
                <a:effectLst/>
              </a:rPr>
              <a:t>Scope and Limitation of the Study</a:t>
            </a:r>
            <a:endParaRPr lang="en-PH" dirty="0">
              <a:effectLst/>
            </a:endParaRPr>
          </a:p>
          <a:p>
            <a:r>
              <a:rPr lang="en-PH" sz="1500" dirty="0">
                <a:effectLst/>
              </a:rPr>
              <a:t>This study focuses on the development of </a:t>
            </a:r>
            <a:r>
              <a:rPr lang="en-PH" sz="1500" b="1" dirty="0">
                <a:effectLst/>
              </a:rPr>
              <a:t>KES: Student Monitoring Application with Real-Time QR and SMS Notification</a:t>
            </a:r>
            <a:r>
              <a:rPr lang="en-PH" sz="1500" dirty="0">
                <a:effectLst/>
              </a:rPr>
              <a:t> for </a:t>
            </a:r>
            <a:r>
              <a:rPr lang="en-PH" sz="1500" b="1" dirty="0" err="1">
                <a:effectLst/>
              </a:rPr>
              <a:t>Kalandagan</a:t>
            </a:r>
            <a:r>
              <a:rPr lang="en-PH" sz="1500" b="1" dirty="0">
                <a:effectLst/>
              </a:rPr>
              <a:t> Elementary School</a:t>
            </a:r>
            <a:r>
              <a:rPr lang="en-PH" sz="1500" dirty="0">
                <a:effectLst/>
              </a:rPr>
              <a:t>. The main goal is to automate the student attendance process and improve communication between the school and parents through real-time SMS updates. The system is specifically designed for </a:t>
            </a:r>
            <a:r>
              <a:rPr lang="en-PH" sz="1500" b="1" dirty="0">
                <a:effectLst/>
              </a:rPr>
              <a:t>Grade 1 to Grade 6 students</a:t>
            </a:r>
            <a:r>
              <a:rPr lang="en-PH" sz="1500" dirty="0">
                <a:effectLst/>
              </a:rPr>
              <a:t> and aims to assist school staff in managing daily attendance more efficiently. The primary beneficiaries of the system are students, parents, teachers, and school administrators.</a:t>
            </a:r>
          </a:p>
          <a:p>
            <a:r>
              <a:rPr lang="en-PH" sz="1500" dirty="0">
                <a:effectLst/>
              </a:rPr>
              <a:t>The study centers on a QR code-based attendance system, where each student is issued a unique QR code integrated into their school ID. When a student arrives at school, the QR code is scanned by a teacher and the system records the time and date of arrival. Immediately after validation, an </a:t>
            </a:r>
            <a:r>
              <a:rPr lang="en-PH" sz="1500" b="1" dirty="0">
                <a:effectLst/>
              </a:rPr>
              <a:t>SMS notification is sent to the student’s parent or guardian</a:t>
            </a:r>
            <a:r>
              <a:rPr lang="en-PH" sz="1500" dirty="0">
                <a:effectLst/>
              </a:rPr>
              <a:t>, confirming their attendance. This real-time alert allows parents to stay informed and involved in their child’s daily school attendance.</a:t>
            </a:r>
          </a:p>
          <a:p>
            <a:pPr marL="0" indent="0">
              <a:buNone/>
            </a:pPr>
            <a:endParaRPr lang="en-PH" dirty="0"/>
          </a:p>
        </p:txBody>
      </p:sp>
    </p:spTree>
    <p:extLst>
      <p:ext uri="{BB962C8B-B14F-4D97-AF65-F5344CB8AC3E}">
        <p14:creationId xmlns:p14="http://schemas.microsoft.com/office/powerpoint/2010/main" val="17772639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7684" y="751261"/>
            <a:ext cx="10454053" cy="3970318"/>
          </a:xfrm>
          <a:prstGeom prst="rect">
            <a:avLst/>
          </a:prstGeom>
        </p:spPr>
        <p:txBody>
          <a:bodyPr wrap="square">
            <a:spAutoFit/>
          </a:bodyPr>
          <a:lstStyle/>
          <a:p>
            <a:pPr marL="285750" indent="-285750">
              <a:buFont typeface="Arial" panose="020B0604020202020204" pitchFamily="34" charset="0"/>
              <a:buChar char="•"/>
            </a:pPr>
            <a:r>
              <a:rPr lang="en-PH" dirty="0"/>
              <a:t>The system includes user management features, allowing different roles such as administrators, teachers, students, and parents, each with designated access rights. The administrator is responsible for registering students, encoding relevant details such as name, ID number, age, gender, address, and contact information. Once the student is registered, the system automatically generates a QR code for attendance tracking. The administrator can also manage records of sent SMS notifications, including the recipient, message content, date, and time</a:t>
            </a:r>
            <a:r>
              <a:rPr lang="en-PH" dirty="0" smtClean="0"/>
              <a:t>.</a:t>
            </a:r>
          </a:p>
          <a:p>
            <a:endParaRPr lang="en-PH" dirty="0"/>
          </a:p>
          <a:p>
            <a:pPr marL="285750" indent="-285750">
              <a:buFont typeface="Arial" panose="020B0604020202020204" pitchFamily="34" charset="0"/>
              <a:buChar char="•"/>
            </a:pPr>
            <a:r>
              <a:rPr lang="en-PH" dirty="0"/>
              <a:t>The </a:t>
            </a:r>
            <a:r>
              <a:rPr lang="en-PH" b="1" dirty="0"/>
              <a:t>scope of the study</a:t>
            </a:r>
            <a:r>
              <a:rPr lang="en-PH" dirty="0"/>
              <a:t> is limited to attendance monitoring </a:t>
            </a:r>
            <a:r>
              <a:rPr lang="en-PH" b="1" dirty="0"/>
              <a:t>upon student arrival only</a:t>
            </a:r>
            <a:r>
              <a:rPr lang="en-PH" dirty="0"/>
              <a:t>, and does not include departure tracking or behavior monitoring throughout the day. The system relies on stable internet and mobile network connectivity for real-time SMS delivery, and assumes that parents have access to mobile phones and are able to reply to messages. It is also limited to use within </a:t>
            </a:r>
            <a:r>
              <a:rPr lang="en-PH" b="1" dirty="0" err="1"/>
              <a:t>Kalandagan</a:t>
            </a:r>
            <a:r>
              <a:rPr lang="en-PH" b="1" dirty="0"/>
              <a:t> Elementary School</a:t>
            </a:r>
            <a:r>
              <a:rPr lang="en-PH" dirty="0"/>
              <a:t> and does not support students outside the specified grade levels. Additionally, the system does not include biometric scanning or other advanced identification methods.</a:t>
            </a:r>
          </a:p>
        </p:txBody>
      </p:sp>
    </p:spTree>
    <p:extLst>
      <p:ext uri="{BB962C8B-B14F-4D97-AF65-F5344CB8AC3E}">
        <p14:creationId xmlns:p14="http://schemas.microsoft.com/office/powerpoint/2010/main" val="232409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342900"/>
            <a:ext cx="10353762" cy="5448300"/>
          </a:xfrm>
        </p:spPr>
        <p:txBody>
          <a:bodyPr/>
          <a:lstStyle/>
          <a:p>
            <a:pPr marL="0" indent="0">
              <a:buNone/>
            </a:pPr>
            <a:r>
              <a:rPr lang="en-US" b="1" cap="all" dirty="0" smtClean="0">
                <a:effectLst/>
              </a:rPr>
              <a:t>Methodology</a:t>
            </a:r>
            <a:endParaRPr lang="en-PH" b="1" cap="all" dirty="0">
              <a:effectLst/>
            </a:endParaRPr>
          </a:p>
          <a:p>
            <a:pPr marL="0" indent="0">
              <a:buNone/>
            </a:pPr>
            <a:r>
              <a:rPr lang="en-US" dirty="0" smtClean="0">
                <a:effectLst/>
              </a:rPr>
              <a:t>     The </a:t>
            </a:r>
            <a:r>
              <a:rPr lang="en-US" dirty="0">
                <a:effectLst/>
              </a:rPr>
              <a:t>following materials were identified and acquired by the researchers to ensure that the development process will not be delayed.</a:t>
            </a:r>
            <a:endParaRPr lang="en-PH" dirty="0">
              <a:effectLst/>
            </a:endParaRPr>
          </a:p>
          <a:p>
            <a:pPr marL="0" indent="0">
              <a:buNone/>
            </a:pPr>
            <a:r>
              <a:rPr lang="en-US" b="1" dirty="0">
                <a:effectLst/>
              </a:rPr>
              <a:t>Table 1:  Hardware </a:t>
            </a:r>
            <a:r>
              <a:rPr lang="en-US" b="1" dirty="0" smtClean="0">
                <a:effectLst/>
              </a:rPr>
              <a:t>Requirements</a:t>
            </a:r>
          </a:p>
          <a:p>
            <a:pPr marL="0" indent="0">
              <a:buNone/>
            </a:pPr>
            <a:endParaRPr lang="en-PH" dirty="0">
              <a:effectLst/>
            </a:endParaRPr>
          </a:p>
        </p:txBody>
      </p:sp>
      <p:pic>
        <p:nvPicPr>
          <p:cNvPr id="4" name="Picture 3"/>
          <p:cNvPicPr>
            <a:picLocks noChangeAspect="1"/>
          </p:cNvPicPr>
          <p:nvPr/>
        </p:nvPicPr>
        <p:blipFill>
          <a:blip r:embed="rId2"/>
          <a:stretch>
            <a:fillRect/>
          </a:stretch>
        </p:blipFill>
        <p:spPr>
          <a:xfrm>
            <a:off x="1723293" y="2533572"/>
            <a:ext cx="7561384" cy="3257628"/>
          </a:xfrm>
          <a:prstGeom prst="rect">
            <a:avLst/>
          </a:prstGeom>
        </p:spPr>
      </p:pic>
    </p:spTree>
    <p:extLst>
      <p:ext uri="{BB962C8B-B14F-4D97-AF65-F5344CB8AC3E}">
        <p14:creationId xmlns:p14="http://schemas.microsoft.com/office/powerpoint/2010/main" val="15626786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518746"/>
            <a:ext cx="10353762" cy="5272454"/>
          </a:xfrm>
        </p:spPr>
        <p:txBody>
          <a:bodyPr/>
          <a:lstStyle/>
          <a:p>
            <a:pPr marL="0" indent="0">
              <a:buNone/>
            </a:pPr>
            <a:r>
              <a:rPr lang="en-US" b="1" dirty="0">
                <a:effectLst/>
              </a:rPr>
              <a:t>Table 2: Software </a:t>
            </a:r>
            <a:r>
              <a:rPr lang="en-US" b="1" dirty="0" smtClean="0">
                <a:effectLst/>
              </a:rPr>
              <a:t>Requirements</a:t>
            </a:r>
            <a:endParaRPr lang="en-PH" b="1" dirty="0">
              <a:effectLst/>
            </a:endParaRPr>
          </a:p>
          <a:p>
            <a:pPr marL="0" indent="0">
              <a:buNone/>
            </a:pPr>
            <a:endParaRPr lang="en-PH" dirty="0">
              <a:effectLst/>
            </a:endParaRPr>
          </a:p>
        </p:txBody>
      </p:sp>
      <p:pic>
        <p:nvPicPr>
          <p:cNvPr id="4" name="Picture 3"/>
          <p:cNvPicPr>
            <a:picLocks noChangeAspect="1"/>
          </p:cNvPicPr>
          <p:nvPr/>
        </p:nvPicPr>
        <p:blipFill>
          <a:blip r:embed="rId2"/>
          <a:stretch>
            <a:fillRect/>
          </a:stretch>
        </p:blipFill>
        <p:spPr>
          <a:xfrm>
            <a:off x="1169412" y="1301261"/>
            <a:ext cx="7653277" cy="1968355"/>
          </a:xfrm>
          <a:prstGeom prst="rect">
            <a:avLst/>
          </a:prstGeom>
        </p:spPr>
      </p:pic>
    </p:spTree>
    <p:extLst>
      <p:ext uri="{BB962C8B-B14F-4D97-AF65-F5344CB8AC3E}">
        <p14:creationId xmlns:p14="http://schemas.microsoft.com/office/powerpoint/2010/main" val="10915942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448408"/>
            <a:ext cx="10353762" cy="5342792"/>
          </a:xfrm>
        </p:spPr>
        <p:txBody>
          <a:bodyPr/>
          <a:lstStyle/>
          <a:p>
            <a:pPr marL="0" indent="0">
              <a:buNone/>
            </a:pPr>
            <a:r>
              <a:rPr lang="en-US" b="1" dirty="0">
                <a:effectLst/>
              </a:rPr>
              <a:t>Context Diagram (Existing System)</a:t>
            </a:r>
            <a:endParaRPr lang="en-PH" dirty="0">
              <a:effectLst/>
            </a:endParaRPr>
          </a:p>
        </p:txBody>
      </p:sp>
      <p:pic>
        <p:nvPicPr>
          <p:cNvPr id="102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4560" y="1033463"/>
            <a:ext cx="7315200"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892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832" y="249678"/>
            <a:ext cx="11254759" cy="6608321"/>
          </a:xfrm>
        </p:spPr>
        <p:txBody>
          <a:bodyPr/>
          <a:lstStyle/>
          <a:p>
            <a:pPr marL="0" indent="0">
              <a:buNone/>
            </a:pPr>
            <a:r>
              <a:rPr lang="en-US" b="1" dirty="0">
                <a:effectLst/>
              </a:rPr>
              <a:t>Data Flow Diagram (Existing System)</a:t>
            </a:r>
            <a:endParaRPr lang="en-PH" dirty="0">
              <a:effectLst/>
            </a:endParaRPr>
          </a:p>
        </p:txBody>
      </p:sp>
      <p:pic>
        <p:nvPicPr>
          <p:cNvPr id="2050"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048" y="743319"/>
            <a:ext cx="5244245" cy="283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048" y="3777580"/>
            <a:ext cx="5244245" cy="293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6508" y="1910924"/>
            <a:ext cx="5489824" cy="373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32049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228600"/>
            <a:ext cx="10353762" cy="6532685"/>
          </a:xfrm>
        </p:spPr>
        <p:txBody>
          <a:bodyPr/>
          <a:lstStyle/>
          <a:p>
            <a:pPr marL="0" indent="0">
              <a:buNone/>
            </a:pPr>
            <a:r>
              <a:rPr lang="en-US" dirty="0">
                <a:effectLst/>
              </a:rPr>
              <a:t>Context Diagram (Proposed System)</a:t>
            </a:r>
            <a:endParaRPr lang="en-PH" dirty="0"/>
          </a:p>
        </p:txBody>
      </p:sp>
      <p:pic>
        <p:nvPicPr>
          <p:cNvPr id="5" name="Picture 4"/>
          <p:cNvPicPr/>
          <p:nvPr/>
        </p:nvPicPr>
        <p:blipFill>
          <a:blip r:embed="rId2"/>
          <a:stretch>
            <a:fillRect/>
          </a:stretch>
        </p:blipFill>
        <p:spPr>
          <a:xfrm>
            <a:off x="1990773" y="1074322"/>
            <a:ext cx="7913077" cy="4841240"/>
          </a:xfrm>
          <a:prstGeom prst="rect">
            <a:avLst/>
          </a:prstGeom>
        </p:spPr>
      </p:pic>
    </p:spTree>
    <p:extLst>
      <p:ext uri="{BB962C8B-B14F-4D97-AF65-F5344CB8AC3E}">
        <p14:creationId xmlns:p14="http://schemas.microsoft.com/office/powerpoint/2010/main" val="2513116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6433" y="303628"/>
            <a:ext cx="10353762" cy="5457092"/>
          </a:xfrm>
        </p:spPr>
        <p:txBody>
          <a:bodyPr/>
          <a:lstStyle/>
          <a:p>
            <a:pPr marL="0" indent="0">
              <a:buNone/>
            </a:pPr>
            <a:r>
              <a:rPr lang="en-US" b="1" cap="all" dirty="0">
                <a:effectLst/>
              </a:rPr>
              <a:t>DATA FLOW DIAGRAM (Logical</a:t>
            </a:r>
            <a:r>
              <a:rPr lang="en-US" b="1" cap="all" dirty="0" smtClean="0">
                <a:effectLst/>
              </a:rPr>
              <a:t>) admin</a:t>
            </a:r>
            <a:endParaRPr lang="en-PH" b="1" cap="all" dirty="0">
              <a:effectLst/>
            </a:endParaRPr>
          </a:p>
          <a:p>
            <a:pPr marL="0" indent="0">
              <a:buNone/>
            </a:pPr>
            <a:endParaRPr lang="en-PH" b="1" cap="all" dirty="0">
              <a:effectLst/>
            </a:endParaRPr>
          </a:p>
        </p:txBody>
      </p:sp>
      <p:pic>
        <p:nvPicPr>
          <p:cNvPr id="5" name="Picture 4"/>
          <p:cNvPicPr/>
          <p:nvPr/>
        </p:nvPicPr>
        <p:blipFill>
          <a:blip r:embed="rId2"/>
          <a:stretch>
            <a:fillRect/>
          </a:stretch>
        </p:blipFill>
        <p:spPr>
          <a:xfrm>
            <a:off x="913795" y="984739"/>
            <a:ext cx="4359519" cy="5486400"/>
          </a:xfrm>
          <a:prstGeom prst="rect">
            <a:avLst/>
          </a:prstGeom>
        </p:spPr>
      </p:pic>
      <p:pic>
        <p:nvPicPr>
          <p:cNvPr id="6" name="Picture 5"/>
          <p:cNvPicPr/>
          <p:nvPr/>
        </p:nvPicPr>
        <p:blipFill>
          <a:blip r:embed="rId3"/>
          <a:stretch>
            <a:fillRect/>
          </a:stretch>
        </p:blipFill>
        <p:spPr>
          <a:xfrm>
            <a:off x="5617210" y="984740"/>
            <a:ext cx="4400550" cy="5486400"/>
          </a:xfrm>
          <a:prstGeom prst="rect">
            <a:avLst/>
          </a:prstGeom>
        </p:spPr>
      </p:pic>
    </p:spTree>
    <p:extLst>
      <p:ext uri="{BB962C8B-B14F-4D97-AF65-F5344CB8AC3E}">
        <p14:creationId xmlns:p14="http://schemas.microsoft.com/office/powerpoint/2010/main" val="13567026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525" y="132081"/>
            <a:ext cx="3485485" cy="507999"/>
          </a:xfrm>
        </p:spPr>
        <p:txBody>
          <a:bodyPr>
            <a:noAutofit/>
          </a:bodyPr>
          <a:lstStyle/>
          <a:p>
            <a:r>
              <a:rPr lang="en-PH" sz="1800" dirty="0">
                <a:effectLst/>
              </a:rPr>
              <a:t>CONTINUED…</a:t>
            </a:r>
            <a:br>
              <a:rPr lang="en-PH" sz="1800" dirty="0">
                <a:effectLst/>
              </a:rPr>
            </a:br>
            <a:endParaRPr lang="en-PH" sz="1800" dirty="0"/>
          </a:p>
        </p:txBody>
      </p:sp>
      <p:pic>
        <p:nvPicPr>
          <p:cNvPr id="4" name="Picture 3"/>
          <p:cNvPicPr/>
          <p:nvPr/>
        </p:nvPicPr>
        <p:blipFill>
          <a:blip r:embed="rId2"/>
          <a:stretch>
            <a:fillRect/>
          </a:stretch>
        </p:blipFill>
        <p:spPr>
          <a:xfrm>
            <a:off x="1204277" y="548640"/>
            <a:ext cx="4515803" cy="6084888"/>
          </a:xfrm>
          <a:prstGeom prst="rect">
            <a:avLst/>
          </a:prstGeom>
        </p:spPr>
      </p:pic>
      <p:pic>
        <p:nvPicPr>
          <p:cNvPr id="5" name="Picture 4"/>
          <p:cNvPicPr/>
          <p:nvPr/>
        </p:nvPicPr>
        <p:blipFill>
          <a:blip r:embed="rId3"/>
          <a:stretch>
            <a:fillRect/>
          </a:stretch>
        </p:blipFill>
        <p:spPr>
          <a:xfrm>
            <a:off x="5973127" y="548640"/>
            <a:ext cx="5131753" cy="6084888"/>
          </a:xfrm>
          <a:prstGeom prst="rect">
            <a:avLst/>
          </a:prstGeom>
        </p:spPr>
      </p:pic>
    </p:spTree>
    <p:extLst>
      <p:ext uri="{BB962C8B-B14F-4D97-AF65-F5344CB8AC3E}">
        <p14:creationId xmlns:p14="http://schemas.microsoft.com/office/powerpoint/2010/main" val="2929836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748" y="145534"/>
            <a:ext cx="1241237" cy="369332"/>
          </a:xfrm>
          <a:prstGeom prst="rect">
            <a:avLst/>
          </a:prstGeom>
        </p:spPr>
        <p:txBody>
          <a:bodyPr wrap="none">
            <a:spAutoFit/>
          </a:bodyPr>
          <a:lstStyle/>
          <a:p>
            <a:r>
              <a:rPr lang="en-US" dirty="0" smtClean="0"/>
              <a:t>TEACHER</a:t>
            </a:r>
            <a:endParaRPr lang="en-PH" dirty="0"/>
          </a:p>
        </p:txBody>
      </p:sp>
      <p:pic>
        <p:nvPicPr>
          <p:cNvPr id="3" name="Picture 2"/>
          <p:cNvPicPr/>
          <p:nvPr/>
        </p:nvPicPr>
        <p:blipFill>
          <a:blip r:embed="rId2"/>
          <a:stretch>
            <a:fillRect/>
          </a:stretch>
        </p:blipFill>
        <p:spPr>
          <a:xfrm>
            <a:off x="922366" y="640080"/>
            <a:ext cx="4998720" cy="6045200"/>
          </a:xfrm>
          <a:prstGeom prst="rect">
            <a:avLst/>
          </a:prstGeom>
        </p:spPr>
      </p:pic>
      <p:sp>
        <p:nvSpPr>
          <p:cNvPr id="4" name="Rectangle 3"/>
          <p:cNvSpPr/>
          <p:nvPr/>
        </p:nvSpPr>
        <p:spPr>
          <a:xfrm>
            <a:off x="6495691" y="145534"/>
            <a:ext cx="1781257" cy="369332"/>
          </a:xfrm>
          <a:prstGeom prst="rect">
            <a:avLst/>
          </a:prstGeom>
        </p:spPr>
        <p:txBody>
          <a:bodyPr wrap="none">
            <a:spAutoFit/>
          </a:bodyPr>
          <a:lstStyle/>
          <a:p>
            <a:r>
              <a:rPr lang="en-PH" dirty="0"/>
              <a:t>CONTINUED…</a:t>
            </a:r>
          </a:p>
        </p:txBody>
      </p:sp>
      <p:pic>
        <p:nvPicPr>
          <p:cNvPr id="5" name="Picture 4"/>
          <p:cNvPicPr/>
          <p:nvPr/>
        </p:nvPicPr>
        <p:blipFill>
          <a:blip r:embed="rId3"/>
          <a:stretch>
            <a:fillRect/>
          </a:stretch>
        </p:blipFill>
        <p:spPr>
          <a:xfrm>
            <a:off x="6136640" y="640080"/>
            <a:ext cx="5313680" cy="6045200"/>
          </a:xfrm>
          <a:prstGeom prst="rect">
            <a:avLst/>
          </a:prstGeom>
        </p:spPr>
      </p:pic>
    </p:spTree>
    <p:extLst>
      <p:ext uri="{BB962C8B-B14F-4D97-AF65-F5344CB8AC3E}">
        <p14:creationId xmlns:p14="http://schemas.microsoft.com/office/powerpoint/2010/main" val="9075068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711200" y="1234756"/>
            <a:ext cx="4795520" cy="2905125"/>
          </a:xfrm>
          <a:prstGeom prst="rect">
            <a:avLst/>
          </a:prstGeom>
        </p:spPr>
      </p:pic>
      <p:sp>
        <p:nvSpPr>
          <p:cNvPr id="3" name="Rectangle 2"/>
          <p:cNvSpPr/>
          <p:nvPr/>
        </p:nvSpPr>
        <p:spPr>
          <a:xfrm>
            <a:off x="232821" y="226814"/>
            <a:ext cx="1207382" cy="369332"/>
          </a:xfrm>
          <a:prstGeom prst="rect">
            <a:avLst/>
          </a:prstGeom>
        </p:spPr>
        <p:txBody>
          <a:bodyPr wrap="none">
            <a:spAutoFit/>
          </a:bodyPr>
          <a:lstStyle/>
          <a:p>
            <a:r>
              <a:rPr lang="en-US" dirty="0" smtClean="0"/>
              <a:t>STUDENT</a:t>
            </a:r>
            <a:endParaRPr lang="en-PH" dirty="0"/>
          </a:p>
        </p:txBody>
      </p:sp>
      <p:pic>
        <p:nvPicPr>
          <p:cNvPr id="4" name="Picture 3"/>
          <p:cNvPicPr/>
          <p:nvPr/>
        </p:nvPicPr>
        <p:blipFill>
          <a:blip r:embed="rId3"/>
          <a:stretch>
            <a:fillRect/>
          </a:stretch>
        </p:blipFill>
        <p:spPr>
          <a:xfrm>
            <a:off x="6329680" y="1234755"/>
            <a:ext cx="5049520" cy="2905125"/>
          </a:xfrm>
          <a:prstGeom prst="rect">
            <a:avLst/>
          </a:prstGeom>
        </p:spPr>
      </p:pic>
      <p:sp>
        <p:nvSpPr>
          <p:cNvPr id="5" name="Rectangle 4"/>
          <p:cNvSpPr/>
          <p:nvPr/>
        </p:nvSpPr>
        <p:spPr>
          <a:xfrm>
            <a:off x="6173029" y="226814"/>
            <a:ext cx="1045735" cy="369332"/>
          </a:xfrm>
          <a:prstGeom prst="rect">
            <a:avLst/>
          </a:prstGeom>
        </p:spPr>
        <p:txBody>
          <a:bodyPr wrap="none">
            <a:spAutoFit/>
          </a:bodyPr>
          <a:lstStyle/>
          <a:p>
            <a:r>
              <a:rPr lang="en-US" dirty="0" smtClean="0"/>
              <a:t>PARENT</a:t>
            </a:r>
            <a:endParaRPr lang="en-PH" dirty="0"/>
          </a:p>
        </p:txBody>
      </p:sp>
    </p:spTree>
    <p:extLst>
      <p:ext uri="{BB962C8B-B14F-4D97-AF65-F5344CB8AC3E}">
        <p14:creationId xmlns:p14="http://schemas.microsoft.com/office/powerpoint/2010/main" val="3952976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817" y="267454"/>
            <a:ext cx="4792017" cy="369332"/>
          </a:xfrm>
          <a:prstGeom prst="rect">
            <a:avLst/>
          </a:prstGeom>
        </p:spPr>
        <p:txBody>
          <a:bodyPr wrap="none">
            <a:spAutoFit/>
          </a:bodyPr>
          <a:lstStyle/>
          <a:p>
            <a:r>
              <a:rPr lang="en-US" dirty="0" smtClean="0"/>
              <a:t>DATA FLOW DIAGRAM (PHYSICAL) ADMIN</a:t>
            </a:r>
            <a:endParaRPr lang="en-PH" dirty="0"/>
          </a:p>
        </p:txBody>
      </p:sp>
      <p:pic>
        <p:nvPicPr>
          <p:cNvPr id="3" name="Picture 2"/>
          <p:cNvPicPr/>
          <p:nvPr/>
        </p:nvPicPr>
        <p:blipFill>
          <a:blip r:embed="rId2"/>
          <a:stretch>
            <a:fillRect/>
          </a:stretch>
        </p:blipFill>
        <p:spPr>
          <a:xfrm>
            <a:off x="1058227" y="636786"/>
            <a:ext cx="4793933" cy="6018014"/>
          </a:xfrm>
          <a:prstGeom prst="rect">
            <a:avLst/>
          </a:prstGeom>
        </p:spPr>
      </p:pic>
      <p:pic>
        <p:nvPicPr>
          <p:cNvPr id="4" name="Picture 3"/>
          <p:cNvPicPr/>
          <p:nvPr/>
        </p:nvPicPr>
        <p:blipFill>
          <a:blip r:embed="rId3"/>
          <a:stretch>
            <a:fillRect/>
          </a:stretch>
        </p:blipFill>
        <p:spPr>
          <a:xfrm>
            <a:off x="5988050" y="636786"/>
            <a:ext cx="5295900" cy="6018014"/>
          </a:xfrm>
          <a:prstGeom prst="rect">
            <a:avLst/>
          </a:prstGeom>
        </p:spPr>
      </p:pic>
    </p:spTree>
    <p:extLst>
      <p:ext uri="{BB962C8B-B14F-4D97-AF65-F5344CB8AC3E}">
        <p14:creationId xmlns:p14="http://schemas.microsoft.com/office/powerpoint/2010/main" val="2438875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051" y="0"/>
            <a:ext cx="1781257" cy="369332"/>
          </a:xfrm>
          <a:prstGeom prst="rect">
            <a:avLst/>
          </a:prstGeom>
        </p:spPr>
        <p:txBody>
          <a:bodyPr wrap="none">
            <a:spAutoFit/>
          </a:bodyPr>
          <a:lstStyle/>
          <a:p>
            <a:r>
              <a:rPr lang="en-PH" dirty="0"/>
              <a:t>CONTINUED…</a:t>
            </a:r>
          </a:p>
        </p:txBody>
      </p:sp>
      <p:pic>
        <p:nvPicPr>
          <p:cNvPr id="3" name="Picture 2"/>
          <p:cNvPicPr/>
          <p:nvPr/>
        </p:nvPicPr>
        <p:blipFill>
          <a:blip r:embed="rId2"/>
          <a:stretch>
            <a:fillRect/>
          </a:stretch>
        </p:blipFill>
        <p:spPr>
          <a:xfrm>
            <a:off x="644207" y="528319"/>
            <a:ext cx="4781233" cy="5892801"/>
          </a:xfrm>
          <a:prstGeom prst="rect">
            <a:avLst/>
          </a:prstGeom>
        </p:spPr>
      </p:pic>
      <p:pic>
        <p:nvPicPr>
          <p:cNvPr id="4" name="Picture 3"/>
          <p:cNvPicPr/>
          <p:nvPr/>
        </p:nvPicPr>
        <p:blipFill>
          <a:blip r:embed="rId3"/>
          <a:stretch>
            <a:fillRect/>
          </a:stretch>
        </p:blipFill>
        <p:spPr>
          <a:xfrm>
            <a:off x="6011545" y="528319"/>
            <a:ext cx="5123815" cy="5892801"/>
          </a:xfrm>
          <a:prstGeom prst="rect">
            <a:avLst/>
          </a:prstGeom>
        </p:spPr>
      </p:pic>
    </p:spTree>
    <p:extLst>
      <p:ext uri="{BB962C8B-B14F-4D97-AF65-F5344CB8AC3E}">
        <p14:creationId xmlns:p14="http://schemas.microsoft.com/office/powerpoint/2010/main" val="683698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748" y="145534"/>
            <a:ext cx="1241237" cy="369332"/>
          </a:xfrm>
          <a:prstGeom prst="rect">
            <a:avLst/>
          </a:prstGeom>
        </p:spPr>
        <p:txBody>
          <a:bodyPr wrap="none">
            <a:spAutoFit/>
          </a:bodyPr>
          <a:lstStyle/>
          <a:p>
            <a:r>
              <a:rPr lang="en-US" dirty="0" smtClean="0"/>
              <a:t>TEACHER</a:t>
            </a:r>
            <a:endParaRPr lang="en-PH" dirty="0"/>
          </a:p>
        </p:txBody>
      </p:sp>
      <p:sp>
        <p:nvSpPr>
          <p:cNvPr id="3" name="Rectangle 2"/>
          <p:cNvSpPr/>
          <p:nvPr/>
        </p:nvSpPr>
        <p:spPr>
          <a:xfrm>
            <a:off x="8050171" y="145534"/>
            <a:ext cx="1781257" cy="369332"/>
          </a:xfrm>
          <a:prstGeom prst="rect">
            <a:avLst/>
          </a:prstGeom>
        </p:spPr>
        <p:txBody>
          <a:bodyPr wrap="none">
            <a:spAutoFit/>
          </a:bodyPr>
          <a:lstStyle/>
          <a:p>
            <a:r>
              <a:rPr lang="en-PH" dirty="0"/>
              <a:t>CONTINUED…</a:t>
            </a:r>
          </a:p>
        </p:txBody>
      </p:sp>
      <p:pic>
        <p:nvPicPr>
          <p:cNvPr id="5" name="Picture 4"/>
          <p:cNvPicPr/>
          <p:nvPr/>
        </p:nvPicPr>
        <p:blipFill>
          <a:blip r:embed="rId2"/>
          <a:stretch>
            <a:fillRect/>
          </a:stretch>
        </p:blipFill>
        <p:spPr>
          <a:xfrm>
            <a:off x="750253" y="660400"/>
            <a:ext cx="4929187" cy="5892800"/>
          </a:xfrm>
          <a:prstGeom prst="rect">
            <a:avLst/>
          </a:prstGeom>
        </p:spPr>
      </p:pic>
      <p:pic>
        <p:nvPicPr>
          <p:cNvPr id="6" name="Picture 5"/>
          <p:cNvPicPr/>
          <p:nvPr/>
        </p:nvPicPr>
        <p:blipFill>
          <a:blip r:embed="rId3"/>
          <a:stretch>
            <a:fillRect/>
          </a:stretch>
        </p:blipFill>
        <p:spPr>
          <a:xfrm>
            <a:off x="6228080" y="660400"/>
            <a:ext cx="5120640" cy="5892800"/>
          </a:xfrm>
          <a:prstGeom prst="rect">
            <a:avLst/>
          </a:prstGeom>
        </p:spPr>
      </p:pic>
    </p:spTree>
    <p:extLst>
      <p:ext uri="{BB962C8B-B14F-4D97-AF65-F5344CB8AC3E}">
        <p14:creationId xmlns:p14="http://schemas.microsoft.com/office/powerpoint/2010/main" val="2096809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629920" y="1697355"/>
            <a:ext cx="5486400" cy="3219450"/>
          </a:xfrm>
          <a:prstGeom prst="rect">
            <a:avLst/>
          </a:prstGeom>
        </p:spPr>
      </p:pic>
      <p:pic>
        <p:nvPicPr>
          <p:cNvPr id="3" name="Picture 2"/>
          <p:cNvPicPr/>
          <p:nvPr/>
        </p:nvPicPr>
        <p:blipFill>
          <a:blip r:embed="rId3"/>
          <a:stretch>
            <a:fillRect/>
          </a:stretch>
        </p:blipFill>
        <p:spPr>
          <a:xfrm>
            <a:off x="6419532" y="1697355"/>
            <a:ext cx="5327015" cy="3219450"/>
          </a:xfrm>
          <a:prstGeom prst="rect">
            <a:avLst/>
          </a:prstGeom>
        </p:spPr>
      </p:pic>
      <p:sp>
        <p:nvSpPr>
          <p:cNvPr id="5" name="Rectangle 4"/>
          <p:cNvSpPr/>
          <p:nvPr/>
        </p:nvSpPr>
        <p:spPr>
          <a:xfrm>
            <a:off x="849189" y="430014"/>
            <a:ext cx="1207382" cy="369332"/>
          </a:xfrm>
          <a:prstGeom prst="rect">
            <a:avLst/>
          </a:prstGeom>
        </p:spPr>
        <p:txBody>
          <a:bodyPr wrap="none">
            <a:spAutoFit/>
          </a:bodyPr>
          <a:lstStyle/>
          <a:p>
            <a:r>
              <a:rPr lang="en-US" dirty="0"/>
              <a:t>STUDENT</a:t>
            </a:r>
            <a:endParaRPr lang="en-PH" dirty="0"/>
          </a:p>
        </p:txBody>
      </p:sp>
      <p:sp>
        <p:nvSpPr>
          <p:cNvPr id="6" name="Rectangle 5"/>
          <p:cNvSpPr/>
          <p:nvPr/>
        </p:nvSpPr>
        <p:spPr>
          <a:xfrm>
            <a:off x="6832972" y="430014"/>
            <a:ext cx="1045735" cy="369332"/>
          </a:xfrm>
          <a:prstGeom prst="rect">
            <a:avLst/>
          </a:prstGeom>
        </p:spPr>
        <p:txBody>
          <a:bodyPr wrap="none">
            <a:spAutoFit/>
          </a:bodyPr>
          <a:lstStyle/>
          <a:p>
            <a:r>
              <a:rPr lang="en-US" dirty="0"/>
              <a:t>PARENT</a:t>
            </a:r>
            <a:endParaRPr lang="en-PH" dirty="0"/>
          </a:p>
        </p:txBody>
      </p:sp>
    </p:spTree>
    <p:extLst>
      <p:ext uri="{BB962C8B-B14F-4D97-AF65-F5344CB8AC3E}">
        <p14:creationId xmlns:p14="http://schemas.microsoft.com/office/powerpoint/2010/main" val="1213506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a:stretch>
            <a:fillRect/>
          </a:stretch>
        </p:blipFill>
        <p:spPr>
          <a:xfrm>
            <a:off x="1960880" y="784106"/>
            <a:ext cx="8351520" cy="5638800"/>
          </a:xfrm>
          <a:prstGeom prst="rect">
            <a:avLst/>
          </a:prstGeom>
        </p:spPr>
      </p:pic>
      <p:sp>
        <p:nvSpPr>
          <p:cNvPr id="3" name="Rectangle 2"/>
          <p:cNvSpPr/>
          <p:nvPr/>
        </p:nvSpPr>
        <p:spPr>
          <a:xfrm>
            <a:off x="490653" y="206494"/>
            <a:ext cx="4769254" cy="369332"/>
          </a:xfrm>
          <a:prstGeom prst="rect">
            <a:avLst/>
          </a:prstGeom>
        </p:spPr>
        <p:txBody>
          <a:bodyPr wrap="none">
            <a:spAutoFit/>
          </a:bodyPr>
          <a:lstStyle/>
          <a:p>
            <a:pPr marR="31750" algn="ctr">
              <a:spcAft>
                <a:spcPts val="850"/>
              </a:spcAft>
            </a:pPr>
            <a:r>
              <a:rPr lang="en-US" b="1" kern="0" cap="all" dirty="0" smtClean="0">
                <a:latin typeface="Arial" panose="020B0604020202020204" pitchFamily="34" charset="0"/>
                <a:ea typeface="SimSun" panose="02010600030101010101" pitchFamily="2" charset="-122"/>
                <a:cs typeface="SimSun" panose="02010600030101010101" pitchFamily="2" charset="-122"/>
              </a:rPr>
              <a:t>Entity-Relationship </a:t>
            </a:r>
            <a:r>
              <a:rPr lang="en-US" b="1" kern="0" cap="all" dirty="0">
                <a:latin typeface="Arial" panose="020B0604020202020204" pitchFamily="34" charset="0"/>
                <a:ea typeface="SimSun" panose="02010600030101010101" pitchFamily="2" charset="-122"/>
                <a:cs typeface="SimSun" panose="02010600030101010101" pitchFamily="2" charset="-122"/>
              </a:rPr>
              <a:t>Diagram (ERD)</a:t>
            </a:r>
            <a:endParaRPr lang="en-PH" b="1" kern="0" cap="all" dirty="0">
              <a:latin typeface="Arial" panose="020B0604020202020204" pitchFamily="34" charset="0"/>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36456156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9920" y="416560"/>
            <a:ext cx="10749280" cy="2431435"/>
          </a:xfrm>
          <a:prstGeom prst="rect">
            <a:avLst/>
          </a:prstGeom>
          <a:noFill/>
        </p:spPr>
        <p:txBody>
          <a:bodyPr wrap="square" rtlCol="0">
            <a:spAutoFit/>
          </a:bodyPr>
          <a:lstStyle/>
          <a:p>
            <a:r>
              <a:rPr lang="en-US" sz="2000" b="1" dirty="0"/>
              <a:t>Research Design</a:t>
            </a:r>
            <a:endParaRPr lang="en-PH" sz="2000" b="1" dirty="0"/>
          </a:p>
          <a:p>
            <a:r>
              <a:rPr lang="en-US" dirty="0"/>
              <a:t>This study will be used the descriptive method of research to evaluate the systems functionality in attaining its objectives, accessibility, acceptability of the system, accuracy delivering the outputs, and security of the system users. </a:t>
            </a:r>
            <a:endParaRPr lang="en-US" dirty="0" smtClean="0"/>
          </a:p>
          <a:p>
            <a:endParaRPr lang="en-PH" dirty="0"/>
          </a:p>
          <a:p>
            <a:r>
              <a:rPr lang="en-US" sz="2400" b="1" dirty="0"/>
              <a:t>Participants of the Study</a:t>
            </a:r>
            <a:endParaRPr lang="en-PH" sz="2400" b="1" dirty="0"/>
          </a:p>
          <a:p>
            <a:r>
              <a:rPr lang="en-US" dirty="0"/>
              <a:t>The respondents of the study were composed of students from grade 1 to grade 6 in </a:t>
            </a:r>
            <a:r>
              <a:rPr lang="en-US" dirty="0" err="1"/>
              <a:t>Kalandagan</a:t>
            </a:r>
            <a:r>
              <a:rPr lang="en-US" dirty="0"/>
              <a:t> Elementary School.</a:t>
            </a:r>
            <a:endParaRPr lang="en-PH" dirty="0"/>
          </a:p>
        </p:txBody>
      </p:sp>
    </p:spTree>
    <p:extLst>
      <p:ext uri="{BB962C8B-B14F-4D97-AF65-F5344CB8AC3E}">
        <p14:creationId xmlns:p14="http://schemas.microsoft.com/office/powerpoint/2010/main" val="607040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5738446"/>
          </a:xfrm>
        </p:spPr>
        <p:txBody>
          <a:bodyPr/>
          <a:lstStyle/>
          <a:p>
            <a:r>
              <a:rPr lang="en-US" dirty="0" smtClean="0"/>
              <a:t>THANK YOU!!</a:t>
            </a:r>
            <a:endParaRPr lang="en-PH" dirty="0"/>
          </a:p>
        </p:txBody>
      </p:sp>
    </p:spTree>
    <p:extLst>
      <p:ext uri="{BB962C8B-B14F-4D97-AF65-F5344CB8AC3E}">
        <p14:creationId xmlns:p14="http://schemas.microsoft.com/office/powerpoint/2010/main" val="37035319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301</TotalTime>
  <Words>1466</Words>
  <Application>Microsoft Office PowerPoint</Application>
  <PresentationFormat>Widescreen</PresentationFormat>
  <Paragraphs>88</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SimSun</vt:lpstr>
      <vt:lpstr>Arial</vt:lpstr>
      <vt:lpstr>Bookman Old Style</vt:lpstr>
      <vt:lpstr>Rockwell</vt:lpstr>
      <vt:lpstr>Damask</vt:lpstr>
      <vt:lpstr>KES-SMART: KES STUDENT MONITORING APPLICATION WITH REAL-TIME QR AND SMS NOTIFICATIONS</vt:lpstr>
      <vt:lpstr>Group members</vt:lpstr>
      <vt:lpstr>Background of the Study</vt:lpstr>
      <vt:lpstr>PowerPoint Presentation</vt:lpstr>
      <vt:lpstr>Objectives of the Study</vt:lpstr>
      <vt:lpstr>Specific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CONTINUED…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MOBILE-BASED APPLICATION STUDENT’S MONITORING SYSTEM OF KES USING QR CODE WITH SMS NOTIFICATIONS</dc:title>
  <dc:creator>Noel Carian Jr</dc:creator>
  <cp:lastModifiedBy>Noel Carian Jr</cp:lastModifiedBy>
  <cp:revision>25</cp:revision>
  <dcterms:created xsi:type="dcterms:W3CDTF">2025-06-23T10:58:53Z</dcterms:created>
  <dcterms:modified xsi:type="dcterms:W3CDTF">2025-08-10T11:27:26Z</dcterms:modified>
</cp:coreProperties>
</file>